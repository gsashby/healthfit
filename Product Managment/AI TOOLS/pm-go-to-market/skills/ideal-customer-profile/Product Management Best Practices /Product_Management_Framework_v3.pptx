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49"/>
    <p:restoredTop sz="94610"/>
  </p:normalViewPr>
  <p:slideViewPr>
    <p:cSldViewPr snapToGrid="0" snapToObjects="1">
      <p:cViewPr>
        <p:scale>
          <a:sx n="135" d="100"/>
          <a:sy n="135" d="100"/>
        </p:scale>
        <p:origin x="5344" y="1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63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749040"/>
            <a:ext cx="3474720" cy="1394460"/>
          </a:xfrm>
          <a:prstGeom prst="rect">
            <a:avLst/>
          </a:prstGeom>
          <a:solidFill>
            <a:srgbClr val="0C8B96"/>
          </a:solidFill>
          <a:ln w="12700">
            <a:solidFill>
              <a:srgbClr val="0C8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30006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840480" y="1188720"/>
            <a:ext cx="50292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0" y="1353312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Empowered, Outcome-Driven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to Building Products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Love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840480" y="3154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AI-Extended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4828032"/>
            <a:ext cx="50292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— 5 Pillars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64592" y="896112"/>
            <a:ext cx="166420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896112"/>
            <a:ext cx="1664208" cy="5029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" y="89611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37744" y="1490472"/>
            <a:ext cx="1517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2377440"/>
            <a:ext cx="1298448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2468880"/>
            <a:ext cx="148132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triads given problems to solve,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features to build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47672" y="896112"/>
            <a:ext cx="166420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47672" y="896112"/>
            <a:ext cx="1664208" cy="5029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47672" y="89611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020824" y="1490472"/>
            <a:ext cx="1517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30552" y="2377440"/>
            <a:ext cx="1298448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39112" y="2468880"/>
            <a:ext cx="148132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Vision-led, North Star Metric, OKRs 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updated, not a fixed plan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30752" y="896112"/>
            <a:ext cx="166420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30752" y="896112"/>
            <a:ext cx="1664208" cy="502920"/>
          </a:xfrm>
          <a:prstGeom prst="rect">
            <a:avLst/>
          </a:prstGeom>
          <a:solidFill>
            <a:srgbClr val="0C8B96"/>
          </a:solidFill>
          <a:ln w="12700">
            <a:solidFill>
              <a:srgbClr val="0C8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30752" y="89611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803904" y="1490472"/>
            <a:ext cx="1517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913632" y="2377440"/>
            <a:ext cx="1298448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22192" y="2468880"/>
            <a:ext cx="148132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risks (incl. Model Quality &amp; Ethics),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OST, JTBD, weekly customer cadence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13832" y="896112"/>
            <a:ext cx="166420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513832" y="896112"/>
            <a:ext cx="1664208" cy="5029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13832" y="89611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586984" y="1490472"/>
            <a:ext cx="1517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96712" y="2377440"/>
            <a:ext cx="1298448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05272" y="2468880"/>
            <a:ext cx="148132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frequent releases, instrumentation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real-time monitoring loops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96912" y="896112"/>
            <a:ext cx="166420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296912" y="896112"/>
            <a:ext cx="1664208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96912" y="89611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370064" y="1490472"/>
            <a:ext cx="1517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79792" y="2377440"/>
            <a:ext cx="1298448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88352" y="2468880"/>
            <a:ext cx="148132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Innovation, Learning,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principles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64592" y="4498848"/>
            <a:ext cx="8823960" cy="5303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4517136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AI PRODUCT LAYER  —  Model Quality &amp; Ethics Risks  ·  Eval &amp; Golden Datasets  ·  Human-in-the-Loop  ·  Responsible AI  ·  Agentic Design Patterns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498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— Empowered Product Team Model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0" y="10972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286000" cy="77724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to Solve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1554480" cy="7498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2880" y="960120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" y="172821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+ Viability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1554480" cy="749808"/>
          </a:xfrm>
          <a:prstGeom prst="rect">
            <a:avLst/>
          </a:prstGeom>
          <a:solidFill>
            <a:srgbClr val="0C8B96"/>
          </a:solidFill>
          <a:ln w="12700">
            <a:solidFill>
              <a:srgbClr val="0C8B96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68880" y="960120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172821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25880" y="3200400"/>
            <a:ext cx="1554480" cy="7498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25880" y="3200400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396849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0120" y="1709928"/>
            <a:ext cx="0" cy="393192"/>
          </a:xfrm>
          <a:prstGeom prst="line">
            <a:avLst/>
          </a:prstGeom>
          <a:noFill/>
          <a:ln w="19050">
            <a:solidFill>
              <a:srgbClr val="CBD5E1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88920" y="1709928"/>
            <a:ext cx="0" cy="393192"/>
          </a:xfrm>
          <a:prstGeom prst="line">
            <a:avLst/>
          </a:prstGeom>
          <a:noFill/>
          <a:ln w="19050">
            <a:solidFill>
              <a:srgbClr val="CBD5E1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783080" y="2880360"/>
            <a:ext cx="0" cy="1371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06240" y="868680"/>
            <a:ext cx="47091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06240" y="868680"/>
            <a:ext cx="91440" cy="87782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0" y="96012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Problems, Not Features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0" y="1252728"/>
            <a:ext cx="4434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are assigned outcomes — not a list of features. They own the 'what' and the 'how'.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06240" y="1892808"/>
            <a:ext cx="47091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06240" y="1892808"/>
            <a:ext cx="91440" cy="877824"/>
          </a:xfrm>
          <a:prstGeom prst="rect">
            <a:avLst/>
          </a:prstGeom>
          <a:solidFill>
            <a:srgbClr val="0C8B96"/>
          </a:solidFill>
          <a:ln w="12700">
            <a:solidFill>
              <a:srgbClr val="0C8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9120" y="1984248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Over Outputs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89120" y="2276856"/>
            <a:ext cx="4434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 measured by business and customer results, not features shipped. OKRs replace roadmap velocity.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06240" y="2916936"/>
            <a:ext cx="47091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206240" y="2916936"/>
            <a:ext cx="91440" cy="87782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89120" y="3008376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Discovery AND Delivery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89120" y="3300984"/>
            <a:ext cx="4434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team discovers and builds the solution. No handoffs between separate discovery and delivery teams.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206240" y="3941064"/>
            <a:ext cx="47091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206240" y="3941064"/>
            <a:ext cx="91440" cy="87782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389120" y="4032504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for Results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389120" y="4325112"/>
            <a:ext cx="4434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Empowered teams are fully responsible for the outcome. They are trusted problem-solvers, not order-takers.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4980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— Product Vision, North Star Metric &amp; Continuous Strategy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0" y="10972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920240" cy="676656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841248"/>
            <a:ext cx="190195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914400"/>
            <a:ext cx="6446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you are trying to create and how it improves customer lives. Inspires and aligns the entire organization. The north star for every product decision.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17904"/>
            <a:ext cx="0" cy="7315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" y="1645920"/>
            <a:ext cx="84307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8912" y="1645920"/>
            <a:ext cx="1920240" cy="67665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645920"/>
            <a:ext cx="190195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96312" y="1719072"/>
            <a:ext cx="6281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plan to achieve the vision while meeting business needs. Identifies the most important problems to solve. Updated continuously — not a fixed annual artifact.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1832" y="2322576"/>
            <a:ext cx="0" cy="7315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" y="2450592"/>
            <a:ext cx="826617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" y="2450592"/>
            <a:ext cx="1920240" cy="676656"/>
          </a:xfrm>
          <a:prstGeom prst="rect">
            <a:avLst/>
          </a:prstGeom>
          <a:solidFill>
            <a:srgbClr val="0C8B96"/>
          </a:solidFill>
          <a:ln w="12700">
            <a:solidFill>
              <a:srgbClr val="0C8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2450592"/>
            <a:ext cx="190195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60904" y="2523744"/>
            <a:ext cx="54315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leading indicator that connects daily product activity to the long-term vision (e.g., 'licenses reclaimed/week'). Sits between strategy and OKRs — aligns all teams to one shared signal.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26517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06424" y="3127248"/>
            <a:ext cx="0" cy="7315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8096" y="3255264"/>
            <a:ext cx="8101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68096" y="3255264"/>
            <a:ext cx="1920240" cy="67665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6384" y="3255264"/>
            <a:ext cx="190195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25496" y="3328416"/>
            <a:ext cx="5952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Key Results that translate strategy into measurable outcomes per team. Not feature lists — problem statements with measurable success criteria.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271016" y="3931920"/>
            <a:ext cx="0" cy="7315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32688" y="4059936"/>
            <a:ext cx="793699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32688" y="4059936"/>
            <a:ext cx="1920240" cy="67665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50976" y="4059936"/>
            <a:ext cx="190195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OBJECTIVES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90088" y="4133088"/>
            <a:ext cx="57881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team's specific problem to solve this quarter, derived from strategy and North Star. Teams define their own KRs to drive ownership.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solidFill>
            <a:srgbClr val="EEF4FB"/>
          </a:solidFill>
          <a:ln w="19050">
            <a:solidFill>
              <a:srgbClr val="0C8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4791456"/>
            <a:ext cx="91440" cy="320040"/>
          </a:xfrm>
          <a:prstGeom prst="rect">
            <a:avLst/>
          </a:prstGeom>
          <a:solidFill>
            <a:srgbClr val="0C8B96"/>
          </a:solidFill>
          <a:ln w="12700">
            <a:solidFill>
              <a:srgbClr val="0C8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83393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Strategy is DISCOVERED, not pre-defined — it evolves continuously as new customer signals, data, and experiments inform the next priority problems.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49808"/>
          </a:xfrm>
          <a:prstGeom prst="rect">
            <a:avLst/>
          </a:prstGeom>
          <a:solidFill>
            <a:srgbClr val="0C8B96"/>
          </a:solidFill>
          <a:ln w="12700">
            <a:solidFill>
              <a:srgbClr val="0C8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— Continuous Discovery: 6 Product Risks, OST &amp; JTBD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0" y="10972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8641080" cy="347472"/>
          </a:xfrm>
          <a:prstGeom prst="rect">
            <a:avLst/>
          </a:prstGeom>
          <a:solidFill>
            <a:srgbClr val="EEF4FB"/>
          </a:solidFill>
          <a:ln w="19050">
            <a:solidFill>
              <a:srgbClr val="0C8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822960"/>
            <a:ext cx="91440" cy="347472"/>
          </a:xfrm>
          <a:prstGeom prst="rect">
            <a:avLst/>
          </a:prstGeom>
          <a:solidFill>
            <a:srgbClr val="0C8B96"/>
          </a:solidFill>
          <a:ln w="12700">
            <a:solidFill>
              <a:srgbClr val="0C8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877824"/>
            <a:ext cx="8385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is continuous — not a phase. Run weekly customer touchpoints, map to the Opportunity Solution Tree, test assumptions before building.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6032" y="129844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298448"/>
            <a:ext cx="566928" cy="16642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129844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137160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RISK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192024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customers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use it?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2322576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interviews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Story-based research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validation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63824" y="129844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63824" y="1298448"/>
            <a:ext cx="566928" cy="1664208"/>
          </a:xfrm>
          <a:prstGeom prst="rect">
            <a:avLst/>
          </a:prstGeom>
          <a:solidFill>
            <a:srgbClr val="0C8B96"/>
          </a:solidFill>
          <a:ln w="12700">
            <a:solidFill>
              <a:srgbClr val="0C8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63824" y="129844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22192" y="137160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RISK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22192" y="192024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customer's figure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how to use it?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22192" y="2322576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review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71616" y="129844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71616" y="1298448"/>
            <a:ext cx="566928" cy="16642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71616" y="129844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29984" y="137160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RISK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29984" y="192024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our team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29984" y="2322576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spikes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vs buy analysis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10896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" y="3108960"/>
            <a:ext cx="566928" cy="166420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6032" y="3108960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318211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RISK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4400" y="373075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work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business?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14400" y="4133088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Legal/compliance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fit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63824" y="310896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163824" y="3108960"/>
            <a:ext cx="566928" cy="1664208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63824" y="3108960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822192" y="318211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 RISK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822192" y="373075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 AI perform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accurately enough?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822192" y="4133088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 evals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71616" y="310896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071616" y="3108960"/>
            <a:ext cx="566928" cy="16642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071616" y="3108960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29984" y="318211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BIAS RISK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729984" y="351129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729984" y="373075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the AI cause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or unfairness?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729984" y="4133088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audits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Privacy/safety review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check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56032" y="4846320"/>
            <a:ext cx="4206240" cy="256032"/>
          </a:xfrm>
          <a:prstGeom prst="rect">
            <a:avLst/>
          </a:prstGeom>
          <a:solidFill>
            <a:srgbClr val="0C8B96">
              <a:alpha val="20000"/>
            </a:srgbClr>
          </a:solidFill>
          <a:ln w="12700">
            <a:solidFill>
              <a:srgbClr val="0C8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0040" y="48646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Opportunity Solution Tree (Torres): Outcome → Opportunities → Solutions → Assumption Tests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81728" y="4846320"/>
            <a:ext cx="4224528" cy="256032"/>
          </a:xfrm>
          <a:prstGeom prst="rect">
            <a:avLst/>
          </a:prstGeom>
          <a:solidFill>
            <a:srgbClr val="2563A8">
              <a:alpha val="20000"/>
            </a:srgbClr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745736" y="48646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Jobs to Be Done: 'Hire/fire' framing uncovers why customers really act — pairs with story-based interviews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49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Layer — Evaluation Discipline &amp; Agentic Design Patterns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0" y="10972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868680"/>
            <a:ext cx="4160520" cy="3657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8686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 DISCIPLINE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1325880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325880"/>
            <a:ext cx="91440" cy="7680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139903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50–200 examples representing real production use cases. Define 'gold standard' outputs and quality thresholds before beta release.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2203704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2203704"/>
            <a:ext cx="91440" cy="7680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227685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255117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separate model to score outputs at scale. Blind and cross-check with human samples to reduce position and scoring bias.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3081528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3081528"/>
            <a:ext cx="91440" cy="7680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315468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as Product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34290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prompts as specs: role, task, constraints, tools, and success criteria. Version-control them like code. A/B test changes.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3959352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3959352"/>
            <a:ext cx="91440" cy="7680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403250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Feedback Loop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430682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UX to capture behavioral signals — unedited AI suggestions = positive signal; heavy edits = negative. Don't rely only on thumbs up/down.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36592" y="868680"/>
            <a:ext cx="4160520" cy="36576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36592" y="8686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DESIGN PATTERNS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36592" y="1325880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36592" y="1325880"/>
            <a:ext cx="91440" cy="768096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9472" y="139903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167335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clearly: which actions require human confirmation before execution? Design trust escalation as the agent proves accuracy over time.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36592" y="2203704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36592" y="2203704"/>
            <a:ext cx="91440" cy="768096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19472" y="227685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Tiers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9472" y="255117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suggest only. Tier 2 — act with review. Tier 3 — act autonomously. Map each agent capability to the right tier at launch.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36592" y="3081528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36592" y="3081528"/>
            <a:ext cx="91440" cy="768096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19472" y="315468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 &amp; Explainability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19472" y="34290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must be traceable. Log what the agent decided, why, and what data it used. Required for enterprise trust and compliance.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36592" y="3959352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36592" y="3959352"/>
            <a:ext cx="91440" cy="768096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19472" y="403250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Scope Limits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19472" y="430682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the agent CANNOT do, not just what it can. Prevent runaway actions with explicit boundaries, retry limits, and escalation paths.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56032" y="4846320"/>
            <a:ext cx="8641080" cy="256032"/>
          </a:xfrm>
          <a:prstGeom prst="rect">
            <a:avLst/>
          </a:prstGeom>
          <a:solidFill>
            <a:srgbClr val="EEF4FB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56032" y="4846320"/>
            <a:ext cx="91440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38912" y="4901184"/>
            <a:ext cx="83850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PM principle: Evaluation is a product responsibility — not just engineering. Own the quality bar, own the eval framework, own the feedback loop.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Product Mindset Framework — Outcome-Driven + AI-Extended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64592" y="822960"/>
            <a:ext cx="2084832" cy="621792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822960"/>
            <a:ext cx="20848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1444752"/>
            <a:ext cx="2084832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187452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problem discovery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6-Risk assessment (incl. AI risks)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to Be Done framing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 — Opportunity mapping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&amp; market signals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sentiment (NPS/CSAT)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822960"/>
            <a:ext cx="2084832" cy="62179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77440" y="822960"/>
            <a:ext cx="20848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1444752"/>
            <a:ext cx="2084832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87168" y="1508760"/>
            <a:ext cx="187452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(not requirements)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 alignment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definition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by impact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experiments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testing (OST)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90288" y="822960"/>
            <a:ext cx="2084832" cy="621792"/>
          </a:xfrm>
          <a:prstGeom prst="rect">
            <a:avLst/>
          </a:prstGeom>
          <a:solidFill>
            <a:srgbClr val="0C8B96"/>
          </a:solidFill>
          <a:ln w="12700">
            <a:solidFill>
              <a:srgbClr val="0C8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90288" y="822960"/>
            <a:ext cx="20848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90288" y="1444752"/>
            <a:ext cx="2084832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0016" y="1508760"/>
            <a:ext cx="187452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prototypes &amp; iterations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 (built-in)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 suite &amp; golden dataset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design &amp; trust tiers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real-time monitoring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03136" y="822960"/>
            <a:ext cx="2084832" cy="6217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03136" y="822960"/>
            <a:ext cx="20848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03136" y="1444752"/>
            <a:ext cx="2084832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12864" y="1508760"/>
            <a:ext cx="187452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success enablement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generation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adoption analysis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realization metrics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retrospective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→ Discovery loop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4592" y="4727448"/>
            <a:ext cx="8823960" cy="228600"/>
          </a:xfrm>
          <a:prstGeom prst="rect">
            <a:avLst/>
          </a:prstGeom>
          <a:solidFill>
            <a:srgbClr val="0C8B96"/>
          </a:solidFill>
          <a:ln w="12700">
            <a:solidFill>
              <a:srgbClr val="0C8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745736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  CONTINUOUS DISCOVERY  —  Parallel to all phases. Deployment signals feed back to Opportunity Analysis.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4956048"/>
            <a:ext cx="8823960" cy="1645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AI EVAL LAYER  —  Golden datasets, LLM-as-a-Judge, implicit feedback and HITL run throughout Development and beyond.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498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 — Product Delivery &amp; Instrumentation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0" y="10972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420624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548640" cy="179222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896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024128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Frequent Releases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1426464"/>
            <a:ext cx="329184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1554480"/>
            <a:ext cx="3456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in short cycles. Every sprint targets the defined outcome. Uncoupled releases enable rapid recovery and reduce risk.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81728" y="896112"/>
            <a:ext cx="420624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81728" y="896112"/>
            <a:ext cx="548640" cy="1792224"/>
          </a:xfrm>
          <a:prstGeom prst="rect">
            <a:avLst/>
          </a:prstGeom>
          <a:solidFill>
            <a:srgbClr val="0C8B96"/>
          </a:solidFill>
          <a:ln w="12700">
            <a:solidFill>
              <a:srgbClr val="0C8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81728" y="896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0096" y="1024128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 (Built-In)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40096" y="1426464"/>
            <a:ext cx="329184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40096" y="1554480"/>
            <a:ext cx="3456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how customers use the product in production. Analytics, feature flags, and usage telemetry are non-negotiable from day one.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" y="2816352"/>
            <a:ext cx="420624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6032" y="2816352"/>
            <a:ext cx="548640" cy="179222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6032" y="28163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2944368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3346704"/>
            <a:ext cx="329184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3474720"/>
            <a:ext cx="3456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detect problems before customers do. Short feedback loops enable the team to respond rapidly to production issues.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81728" y="2816352"/>
            <a:ext cx="420624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81728" y="2816352"/>
            <a:ext cx="548640" cy="179222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81728" y="28163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0096" y="2944368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→ Discovery Loop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340096" y="3346704"/>
            <a:ext cx="329184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40096" y="3474720"/>
            <a:ext cx="3456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data (usage, adoption, error rates) feeds directly back into the next discovery cycle. Close the loop — always.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69080" y="173736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256032" y="4690872"/>
            <a:ext cx="8641080" cy="384048"/>
          </a:xfrm>
          <a:prstGeom prst="rect">
            <a:avLst/>
          </a:prstGeom>
          <a:solidFill>
            <a:srgbClr val="EEF4FB"/>
          </a:solidFill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6032" y="4690872"/>
            <a:ext cx="9144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8912" y="4745736"/>
            <a:ext cx="8385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Principle: Instrumentation is a product team responsibility — not a post-launch analytics task. Build it in from day one.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4980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5 — Product Culture, Enabling Conditions &amp; Responsible 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0" y="10972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8641080" cy="420624"/>
          </a:xfrm>
          <a:prstGeom prst="rect">
            <a:avLst/>
          </a:prstGeom>
          <a:solidFill>
            <a:srgbClr val="EEF4FB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859536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is the hardest thing to transform — and the most critical. Process without culture produces feature factories. AI without ethical governance produces harm.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316736"/>
            <a:ext cx="8641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316736"/>
            <a:ext cx="91440" cy="5486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316736"/>
            <a:ext cx="237744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1316736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over Process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389888"/>
            <a:ext cx="6080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is great when the problem and solution are known. When discovery is needed, rigid process creates friction and kills innovation.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1938528"/>
            <a:ext cx="8641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1938528"/>
            <a:ext cx="91440" cy="5486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" y="1938528"/>
            <a:ext cx="237744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1938528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over Control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2011680"/>
            <a:ext cx="6080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can only be empowered when trusted. Psychological safety and a speak-up culture are prerequisites for empowerment.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6032" y="2560320"/>
            <a:ext cx="8641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6032" y="2560320"/>
            <a:ext cx="91440" cy="5486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2560320"/>
            <a:ext cx="237744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256032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over Predictability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2633472"/>
            <a:ext cx="6080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predictability = 0% innovation. Reserve predictability for industrialized work. Actively create space for exploration.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56032" y="3182112"/>
            <a:ext cx="8641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3182112"/>
            <a:ext cx="91440" cy="5486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" y="3182112"/>
            <a:ext cx="237744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3182112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over Failure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3255264"/>
            <a:ext cx="6080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only occurs when teams fail to apply what they've learned. Discovery failure is expected and valuable.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56032" y="3803904"/>
            <a:ext cx="8641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" y="3803904"/>
            <a:ext cx="91440" cy="5486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6032" y="3803904"/>
            <a:ext cx="237744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" y="3803904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over Directing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3877056"/>
            <a:ext cx="6080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leaders set the context (vision, strategy, OKRs) and coach teams toward the outcome. They get out of the way.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56032" y="4425696"/>
            <a:ext cx="8641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6032" y="4425696"/>
            <a:ext cx="91440" cy="5486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6032" y="4425696"/>
            <a:ext cx="237744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84048" y="4425696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0" y="4498848"/>
            <a:ext cx="5349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PMs own the ethics framework — not just engineering. Bias audits, fairness standards, privacy-preserving design, and explainability are product requirements.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302752" y="45902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Over Outputs — The OKR Connection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3977640" cy="40233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9184" y="84124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OUTPUTS (Feature Factory)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841248"/>
            <a:ext cx="4526280" cy="402336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462272" y="84124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OUTCOMES (Product Model)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1316736"/>
            <a:ext cx="8659368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33672" y="1316736"/>
            <a:ext cx="36576" cy="484632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3533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reporting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34256" y="135331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customer time-to-insight by 40%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032" y="1865376"/>
            <a:ext cx="8659368" cy="48463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33672" y="1865376"/>
            <a:ext cx="36576" cy="484632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19019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SSO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34256" y="19019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enterprise activation rate by 25%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6032" y="2414016"/>
            <a:ext cx="8659368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33672" y="2414016"/>
            <a:ext cx="36576" cy="484632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24505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mobile app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34256" y="245059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30% of usage to mobile within 6 months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56032" y="2962656"/>
            <a:ext cx="8659368" cy="48463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33672" y="2962656"/>
            <a:ext cx="36576" cy="484632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29992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AI recommendations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34256" y="29992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license utilization rate from 62% → 80%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56032" y="3511296"/>
            <a:ext cx="8659368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33672" y="3511296"/>
            <a:ext cx="36576" cy="484632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35478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Q2 roadmap items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34256" y="35478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OKR: Reduce churn in mid-market segment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56032" y="4114800"/>
            <a:ext cx="8659368" cy="914400"/>
          </a:xfrm>
          <a:prstGeom prst="rect">
            <a:avLst/>
          </a:prstGeom>
          <a:solidFill>
            <a:srgbClr val="EEF4FB"/>
          </a:solidFill>
          <a:ln w="190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" y="4114800"/>
            <a:ext cx="91440" cy="9144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8912" y="417880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Structure:  </a:t>
            </a: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(qualitative, inspiring problem statement)  +  </a:t>
            </a: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(measurable outcomes, not deliverables)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8912" y="455371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are given the Objective (the problem to solve) and define their own Key Results. This drives ownership, not compliance.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49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AI Additions — What's Different for AI Products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0" y="10972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868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868680"/>
            <a:ext cx="91440" cy="8686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68680"/>
            <a:ext cx="1097280" cy="8686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86868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2608" y="1325880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— Risk #5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463040" y="941832"/>
            <a:ext cx="2935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 Risk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463040" y="1234440"/>
            <a:ext cx="2935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products carry a sixth risk beyond SVPG's four: will the model perform accurately and consistently enough to be trusted? Requires golden datasets, quality thresholds, and regression testing before beta.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90872" y="868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90872" y="868680"/>
            <a:ext cx="91440" cy="86868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90872" y="868680"/>
            <a:ext cx="1097280" cy="86868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90872" y="86868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27448" y="1325880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— Risk #6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97880" y="941832"/>
            <a:ext cx="2935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Bias Risk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897880" y="1234440"/>
            <a:ext cx="2935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the model produce harmful, discriminatory, or privacy-violating outputs? Bias audits, explainability standards, and safety guardrails are product requirements — not afterthoughts.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1856232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1856232"/>
            <a:ext cx="91440" cy="8686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1856232"/>
            <a:ext cx="1097280" cy="8686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6032" y="185623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92608" y="2313432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Slide 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63040" y="1929384"/>
            <a:ext cx="2935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 Discipline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463040" y="2221992"/>
            <a:ext cx="2935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eval framework: golden datasets, LLM-as-a-Judge, prompt versioning, and implicit behavioral feedback loops. Evals are to AI products what QA suites are to software.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90872" y="1856232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90872" y="1856232"/>
            <a:ext cx="91440" cy="86868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90872" y="1856232"/>
            <a:ext cx="1097280" cy="86868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90872" y="185623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727448" y="2313432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Slide 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97880" y="1929384"/>
            <a:ext cx="2935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Design Patterns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897880" y="2221992"/>
            <a:ext cx="2935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trust tiers, audit trails, explainability, and guardrails are product design decisions — not just engineering ones. Define what the agent can and cannot do at every trust tier.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" y="2843784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6032" y="2843784"/>
            <a:ext cx="91440" cy="868680"/>
          </a:xfrm>
          <a:prstGeom prst="rect">
            <a:avLst/>
          </a:prstGeom>
          <a:solidFill>
            <a:srgbClr val="0C8B96"/>
          </a:solidFill>
          <a:ln w="12700">
            <a:solidFill>
              <a:srgbClr val="0C8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56032" y="2843784"/>
            <a:ext cx="1097280" cy="868680"/>
          </a:xfrm>
          <a:prstGeom prst="rect">
            <a:avLst/>
          </a:prstGeom>
          <a:solidFill>
            <a:srgbClr val="0C8B96"/>
          </a:solidFill>
          <a:ln w="12700">
            <a:solidFill>
              <a:srgbClr val="0C8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56032" y="2843784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292608" y="3300984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Cascade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463040" y="2916936"/>
            <a:ext cx="2935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463040" y="3209544"/>
            <a:ext cx="2935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leading indicator connecting daily product work to long-term vision. Sits between Strategy and OKRs. Prevents OKRs from drifting from strategic intent.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90872" y="2843784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90872" y="2843784"/>
            <a:ext cx="91440" cy="8686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90872" y="2843784"/>
            <a:ext cx="1097280" cy="8686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90872" y="2843784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4727448" y="3300984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897880" y="2916936"/>
            <a:ext cx="2935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 + JTBD + Weekly Cadence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897880" y="3209544"/>
            <a:ext cx="2935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Solution Trees (Torres) give discovery structure: Outcome → Opportunities → Solutions → Assumption Tests. JTBD uncovers true customer motivation. Weekly interviews keep the tree current.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6032" y="3831336"/>
            <a:ext cx="8641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1B2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56032" y="3831336"/>
            <a:ext cx="91440" cy="8686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56032" y="3831336"/>
            <a:ext cx="1325880" cy="8686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56032" y="3831336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274320" y="427024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605010" y="3904488"/>
            <a:ext cx="7296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(Culture)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605010" y="4197096"/>
            <a:ext cx="7296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AI governance is a product culture principle. Bias audits, fairness standards, and privacy-preserving design belong in the culture pillar — owned by PM, not just legal or engineering.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1793</Words>
  <Application>Microsoft Macintosh PowerPoint</Application>
  <PresentationFormat>On-screen Show (16:9)</PresentationFormat>
  <Paragraphs>259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Mindset Framework v3 — AI-Extended</dc:title>
  <dc:subject>PptxGenJS Presentation</dc:subject>
  <dc:creator>PptxGenJS</dc:creator>
  <cp:lastModifiedBy>Gerald Ashby</cp:lastModifiedBy>
  <cp:revision>2</cp:revision>
  <dcterms:created xsi:type="dcterms:W3CDTF">2026-03-06T17:34:18Z</dcterms:created>
  <dcterms:modified xsi:type="dcterms:W3CDTF">2026-03-06T22:39:48Z</dcterms:modified>
</cp:coreProperties>
</file>